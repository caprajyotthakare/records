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63" r:id="rId5"/>
    <p:sldId id="262" r:id="rId6"/>
    <p:sldId id="266" r:id="rId7"/>
    <p:sldId id="264" r:id="rId8"/>
    <p:sldId id="267" r:id="rId9"/>
    <p:sldId id="268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32" autoAdjust="0"/>
    <p:restoredTop sz="94660"/>
  </p:normalViewPr>
  <p:slideViewPr>
    <p:cSldViewPr>
      <p:cViewPr>
        <p:scale>
          <a:sx n="75" d="100"/>
          <a:sy n="75" d="100"/>
        </p:scale>
        <p:origin x="43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62400"/>
            <a:ext cx="6400800" cy="1600200"/>
          </a:xfrm>
        </p:spPr>
        <p:txBody>
          <a:bodyPr/>
          <a:lstStyle/>
          <a:p>
            <a:r>
              <a:rPr lang="en-US" dirty="0"/>
              <a:t>By  Prajyot A. Thakare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76400"/>
            <a:ext cx="8229600" cy="1470025"/>
          </a:xfrm>
        </p:spPr>
        <p:txBody>
          <a:bodyPr>
            <a:normAutofit fontScale="90000"/>
          </a:bodyPr>
          <a:lstStyle/>
          <a:p>
            <a:r>
              <a:rPr dirty="0"/>
              <a:t>Study Circle Session 15th</a:t>
            </a:r>
            <a:br>
              <a:rPr dirty="0"/>
            </a:br>
            <a:r>
              <a:rPr dirty="0"/>
              <a:t>Topic : Imports of Goods</a:t>
            </a:r>
            <a:br>
              <a:rPr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Imports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</a:t>
            </a:r>
            <a:r>
              <a:rPr lang="en-IN" dirty="0" err="1"/>
              <a:t>ndian</a:t>
            </a:r>
            <a:r>
              <a:rPr lang="en-IN" dirty="0"/>
              <a:t> imports majorly includes Petroleum and Crude Oil</a:t>
            </a:r>
            <a:r>
              <a:rPr lang="en-US" dirty="0"/>
              <a:t>, Chemicals, Electronic Items, </a:t>
            </a:r>
            <a:r>
              <a:rPr lang="en-US" dirty="0" err="1"/>
              <a:t>Fertilisers</a:t>
            </a:r>
            <a:r>
              <a:rPr lang="en-US" dirty="0"/>
              <a:t>, Gold.</a:t>
            </a:r>
          </a:p>
          <a:p>
            <a:r>
              <a:rPr lang="en-US" dirty="0"/>
              <a:t>License (IEC given by DGFT – </a:t>
            </a:r>
            <a:r>
              <a:rPr lang="en-US" b="1" dirty="0" err="1"/>
              <a:t>Statewise</a:t>
            </a:r>
            <a:r>
              <a:rPr lang="en-US" dirty="0"/>
              <a:t>) is required to import Goods.</a:t>
            </a:r>
          </a:p>
          <a:p>
            <a:r>
              <a:rPr lang="en-US" dirty="0"/>
              <a:t>Import means to bring in Goods from another country for use, sale, processing, reexport.</a:t>
            </a:r>
          </a:p>
          <a:p>
            <a:r>
              <a:rPr lang="en-US" dirty="0"/>
              <a:t>Any supply from SEZ Unit to DTA(Domestic Tariff Area) shall be treated as Imports.</a:t>
            </a:r>
          </a:p>
          <a:p>
            <a:r>
              <a:rPr lang="en-US" dirty="0"/>
              <a:t>Supply by SEZ to DTA is neither Export nor Import to the Parties as per SEZ Act and IGST Act. Hence FCM(IGST).</a:t>
            </a:r>
          </a:p>
          <a:p>
            <a:r>
              <a:rPr lang="en-US" dirty="0"/>
              <a:t>Supply by DTA to SEZ is treated as Export but not an Import for SEZ. Hence Zero Rated Supply for DTA.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 Procedure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Trade Inquiry  - Trade Directories and Trade Associations</a:t>
            </a:r>
          </a:p>
          <a:p>
            <a:r>
              <a:rPr lang="en-US" dirty="0"/>
              <a:t>Obtaining import license</a:t>
            </a:r>
          </a:p>
          <a:p>
            <a:r>
              <a:rPr lang="en-US" dirty="0"/>
              <a:t>Placing an Order</a:t>
            </a:r>
          </a:p>
          <a:p>
            <a:r>
              <a:rPr lang="en-US" dirty="0"/>
              <a:t>Letter of Credit…</a:t>
            </a:r>
          </a:p>
          <a:p>
            <a:r>
              <a:rPr lang="en-IN" dirty="0"/>
              <a:t>Advance Payment as per Terms…</a:t>
            </a:r>
          </a:p>
          <a:p>
            <a:r>
              <a:rPr lang="en-IN" dirty="0"/>
              <a:t>Receipt of Shipment Advice …Bill of Lading and Bill of Entry</a:t>
            </a:r>
          </a:p>
          <a:p>
            <a:r>
              <a:rPr lang="en-IN" dirty="0" err="1"/>
              <a:t>Clearence</a:t>
            </a:r>
            <a:r>
              <a:rPr lang="en-IN" dirty="0"/>
              <a:t> through Customs…</a:t>
            </a:r>
          </a:p>
          <a:p>
            <a:r>
              <a:rPr lang="en-IN" dirty="0"/>
              <a:t>Arrival of Goods at </a:t>
            </a:r>
            <a:r>
              <a:rPr lang="en-IN" dirty="0" err="1"/>
              <a:t>Godown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INCOTERMS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EXW- Ex Works</a:t>
            </a:r>
          </a:p>
          <a:p>
            <a:r>
              <a:rPr lang="en-US" dirty="0"/>
              <a:t>FCA- Free Carrier</a:t>
            </a:r>
          </a:p>
          <a:p>
            <a:r>
              <a:rPr lang="en-US" dirty="0"/>
              <a:t>FAS- Free Alongside Ship</a:t>
            </a:r>
          </a:p>
          <a:p>
            <a:r>
              <a:rPr lang="en-US" b="1" dirty="0"/>
              <a:t>FOB- Free on Board</a:t>
            </a:r>
          </a:p>
          <a:p>
            <a:r>
              <a:rPr lang="en-US" dirty="0"/>
              <a:t>CFR- Cost &amp; Freight</a:t>
            </a:r>
          </a:p>
          <a:p>
            <a:r>
              <a:rPr lang="en-US" b="1" dirty="0"/>
              <a:t>CIF- Cost Insurance &amp; Freight</a:t>
            </a:r>
          </a:p>
          <a:p>
            <a:r>
              <a:rPr lang="en-US" dirty="0"/>
              <a:t>CPT- Carriage Paid To</a:t>
            </a:r>
          </a:p>
          <a:p>
            <a:r>
              <a:rPr lang="en-US" dirty="0"/>
              <a:t>CIP- Carriage &amp; Insurance Paid To</a:t>
            </a:r>
          </a:p>
          <a:p>
            <a:r>
              <a:rPr lang="en-US" dirty="0"/>
              <a:t>DPU- Delivered at place and unloaded</a:t>
            </a:r>
          </a:p>
          <a:p>
            <a:r>
              <a:rPr lang="en-US" dirty="0"/>
              <a:t>DAP- Delivered at Place</a:t>
            </a:r>
          </a:p>
          <a:p>
            <a:r>
              <a:rPr lang="en-US" dirty="0"/>
              <a:t>DDP- Delivered Duty Paid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153400" cy="144780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GST on Imports 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4"/>
          </p:nvPr>
        </p:nvSpPr>
        <p:spPr>
          <a:xfrm>
            <a:off x="533400" y="1752600"/>
            <a:ext cx="8153400" cy="3200400"/>
          </a:xfrm>
        </p:spPr>
        <p:txBody>
          <a:bodyPr/>
          <a:lstStyle/>
          <a:p>
            <a:r>
              <a:rPr lang="en-US" dirty="0"/>
              <a:t>GST is paid on Reverse Charge Basis as Interstate Supply.</a:t>
            </a:r>
          </a:p>
          <a:p>
            <a:r>
              <a:rPr lang="en-US" dirty="0"/>
              <a:t>GST = (Taxable Value + Import Duty) * Rate</a:t>
            </a:r>
          </a:p>
          <a:p>
            <a:r>
              <a:rPr lang="en-US" dirty="0"/>
              <a:t>Notification Dated 1-10-2023 Ocean freight.</a:t>
            </a:r>
          </a:p>
          <a:p>
            <a:r>
              <a:rPr lang="en-US" dirty="0"/>
              <a:t>ITC of Basic Custom Duty and Social </a:t>
            </a:r>
            <a:r>
              <a:rPr lang="en-US" dirty="0" err="1"/>
              <a:t>Walfare</a:t>
            </a:r>
            <a:r>
              <a:rPr lang="en-US" dirty="0"/>
              <a:t> Surcharge is not available.</a:t>
            </a:r>
          </a:p>
          <a:p>
            <a:r>
              <a:rPr lang="en-IN" dirty="0"/>
              <a:t>SEZ Points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2ADA-4811-211B-6346-292D24B4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Tax Provision for Imports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6FB2-1769-4EEB-DF12-BB113667A1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714500"/>
            <a:ext cx="7772400" cy="2819400"/>
          </a:xfrm>
        </p:spPr>
        <p:txBody>
          <a:bodyPr/>
          <a:lstStyle/>
          <a:p>
            <a:r>
              <a:rPr lang="en-US" dirty="0"/>
              <a:t>Any taxes paid by </a:t>
            </a:r>
            <a:r>
              <a:rPr lang="en-US" dirty="0" err="1"/>
              <a:t>Assessee</a:t>
            </a:r>
            <a:r>
              <a:rPr lang="en-US" dirty="0"/>
              <a:t> for import of goods; Credit of such tax can be availed through form 67.</a:t>
            </a:r>
          </a:p>
          <a:p>
            <a:r>
              <a:rPr lang="en-US" dirty="0"/>
              <a:t>194 Q is applicable if such supplier qualifies  Residential Status of India.</a:t>
            </a:r>
          </a:p>
          <a:p>
            <a:r>
              <a:rPr lang="en-US" dirty="0"/>
              <a:t>Ex. Import of Scrap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75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5541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Accounting Treatment Of Imports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AS 11 – Effect of Changes in Foreign Exchange Rater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286000"/>
            <a:ext cx="7772400" cy="2514600"/>
          </a:xfrm>
        </p:spPr>
        <p:txBody>
          <a:bodyPr>
            <a:normAutofit/>
          </a:bodyPr>
          <a:lstStyle/>
          <a:p>
            <a:r>
              <a:rPr lang="en-US" dirty="0"/>
              <a:t>Expense should be Booked as per Incoterms at spot rate.</a:t>
            </a:r>
          </a:p>
          <a:p>
            <a:r>
              <a:rPr lang="en-IN" dirty="0"/>
              <a:t>Subsequent payment creates difference in booked expense and payment made, transfer to P&amp;L.</a:t>
            </a:r>
          </a:p>
          <a:p>
            <a:r>
              <a:rPr lang="en-IN" dirty="0"/>
              <a:t>At Balance Sheet Date, revise the amount payable.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FEAD-FAFC-AA03-06A5-E6A46101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Audit Points for Imports</a:t>
            </a:r>
            <a:endParaRPr lang="en-IN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72680-347D-1865-E88A-DCE6DFBB18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371600"/>
            <a:ext cx="7772400" cy="3352800"/>
          </a:xfrm>
        </p:spPr>
        <p:txBody>
          <a:bodyPr/>
          <a:lstStyle/>
          <a:p>
            <a:r>
              <a:rPr lang="en-US" dirty="0"/>
              <a:t>Check Bill of Entry generated on GST portal with actual goods received. </a:t>
            </a:r>
          </a:p>
          <a:p>
            <a:r>
              <a:rPr lang="en-US" dirty="0"/>
              <a:t>Reconfirm above through import duty charged on such Bill of Entry with ICEGATE.</a:t>
            </a:r>
          </a:p>
          <a:p>
            <a:r>
              <a:rPr lang="en-US" dirty="0"/>
              <a:t>Check Specific Licenses required for importing specific type of Goods.</a:t>
            </a:r>
          </a:p>
          <a:p>
            <a:r>
              <a:rPr lang="en-US" dirty="0"/>
              <a:t>Undervaluation of Invoices for reduced import duties.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05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384D-1208-73AE-EB09-24ED1CA9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Valuation in Imports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(as per Customs Act, 1962)</a:t>
            </a:r>
            <a:endParaRPr lang="en-IN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2EE5-A20E-D211-E585-42A938751DA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905000"/>
            <a:ext cx="7772400" cy="2286000"/>
          </a:xfrm>
        </p:spPr>
        <p:txBody>
          <a:bodyPr/>
          <a:lstStyle/>
          <a:p>
            <a:r>
              <a:rPr lang="en-US" dirty="0"/>
              <a:t>Transaction Value (Ad-valorem Tariff)	</a:t>
            </a:r>
          </a:p>
          <a:p>
            <a:pPr marL="0" indent="0">
              <a:buNone/>
            </a:pPr>
            <a:r>
              <a:rPr lang="en-US" dirty="0"/>
              <a:t>1. FOB</a:t>
            </a:r>
          </a:p>
          <a:p>
            <a:pPr marL="0" indent="0">
              <a:buNone/>
            </a:pPr>
            <a:r>
              <a:rPr lang="en-US" dirty="0"/>
              <a:t>2. CIF</a:t>
            </a:r>
          </a:p>
          <a:p>
            <a:r>
              <a:rPr lang="en-US" dirty="0"/>
              <a:t> Fixed Tariff Values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51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133600"/>
            <a:ext cx="7772400" cy="1143000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THANKYOU</a:t>
            </a:r>
            <a:endParaRPr lang="en-IN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714</TotalTime>
  <Words>454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Franklin Gothic Book</vt:lpstr>
      <vt:lpstr>Perpetua</vt:lpstr>
      <vt:lpstr>Wingdings 2</vt:lpstr>
      <vt:lpstr>Equity</vt:lpstr>
      <vt:lpstr>Study Circle Session 15th Topic : Imports of Goods </vt:lpstr>
      <vt:lpstr>Imports</vt:lpstr>
      <vt:lpstr>Import Procedure</vt:lpstr>
      <vt:lpstr>INCOTERMS</vt:lpstr>
      <vt:lpstr>GST on Imports </vt:lpstr>
      <vt:lpstr>Income Tax Provision for Imports</vt:lpstr>
      <vt:lpstr>Accounting Treatment Of Imports AS 11 – Effect of Changes in Foreign Exchange Rater</vt:lpstr>
      <vt:lpstr>Audit Points for Imports</vt:lpstr>
      <vt:lpstr>Valuation in Imports (as per Customs Act, 1962)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Circle Session xx Topic : Exports and Imports </dc:title>
  <dc:creator>Sony</dc:creator>
  <cp:lastModifiedBy>Prajyot Thakare</cp:lastModifiedBy>
  <cp:revision>15</cp:revision>
  <dcterms:created xsi:type="dcterms:W3CDTF">2006-08-16T00:00:00Z</dcterms:created>
  <dcterms:modified xsi:type="dcterms:W3CDTF">2024-04-20T05:47:21Z</dcterms:modified>
</cp:coreProperties>
</file>